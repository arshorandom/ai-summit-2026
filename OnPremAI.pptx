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3" r:id="rId17"/>
    <p:sldId id="275" r:id="rId18"/>
    <p:sldId id="276" r:id="rId19"/>
    <p:sldId id="272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4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Helvetica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Helvetica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Helvetica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Helvetic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Helvetica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Helvetic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Helvetic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Helvetic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Helvetic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" cy="457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005840"/>
            <a:ext cx="36576" cy="365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457200"/>
            <a:ext cx="54864" cy="548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429768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4617720"/>
            <a:ext cx="36576" cy="365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80560"/>
            <a:ext cx="36576" cy="3657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Scaling On-Premise AI</a:t>
            </a:r>
            <a:endParaRPr lang="en-US" sz="48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1F5F9"/>
                </a:solidFill>
                <a:latin typeface="Helvetica" panose="020B0504030202020204" pitchFamily="34" charset="0"/>
                <a:ea typeface="Helvetica" pitchFamily="34" charset="-122"/>
                <a:cs typeface="Helvetica" panose="020B0504030202020204" pitchFamily="34" charset="0"/>
              </a:rPr>
              <a:t>From </a:t>
            </a:r>
            <a:r>
              <a:rPr lang="en-US" sz="2400" b="1" dirty="0">
                <a:solidFill>
                  <a:srgbClr val="F59E0B"/>
                </a:solidFill>
                <a:latin typeface="Helvetica" panose="020B0504030202020204" pitchFamily="34" charset="0"/>
                <a:ea typeface="Helvetica" pitchFamily="34" charset="-122"/>
                <a:cs typeface="Helvetica" panose="020B0504030202020204" pitchFamily="34" charset="0"/>
              </a:rPr>
              <a:t>Ollama</a:t>
            </a:r>
            <a:r>
              <a:rPr lang="en-US" sz="2400" dirty="0">
                <a:solidFill>
                  <a:srgbClr val="F1F5F9"/>
                </a:solidFill>
                <a:latin typeface="Helvetica" panose="020B0504030202020204" pitchFamily="34" charset="0"/>
                <a:ea typeface="Helvetica" pitchFamily="34" charset="-122"/>
                <a:cs typeface="Helvetica" panose="020B0504030202020204" pitchFamily="34" charset="0"/>
              </a:rPr>
              <a:t> prototyping to </a:t>
            </a:r>
            <a:r>
              <a:rPr lang="en-US" sz="2400" b="1" dirty="0">
                <a:solidFill>
                  <a:srgbClr val="14B8A6"/>
                </a:solidFill>
                <a:latin typeface="Helvetica" panose="020B0504030202020204" pitchFamily="34" charset="0"/>
                <a:ea typeface="Helvetica" pitchFamily="34" charset="-122"/>
                <a:cs typeface="Helvetica" panose="020B0504030202020204" pitchFamily="34" charset="0"/>
              </a:rPr>
              <a:t>vLLM</a:t>
            </a:r>
            <a:r>
              <a:rPr lang="en-US" sz="2400" dirty="0">
                <a:solidFill>
                  <a:srgbClr val="F1F5F9"/>
                </a:solidFill>
                <a:latin typeface="Helvetica" panose="020B0504030202020204" pitchFamily="34" charset="0"/>
                <a:ea typeface="Helvetica" pitchFamily="34" charset="-122"/>
                <a:cs typeface="Helvetica" panose="020B0504030202020204" pitchFamily="34" charset="0"/>
              </a:rPr>
              <a:t> production</a:t>
            </a:r>
            <a:endParaRPr lang="en-US" sz="2400" dirty="0">
              <a:latin typeface="Helvetica" panose="020B0504030202020204" pitchFamily="34" charset="0"/>
              <a:cs typeface="Helvetica" panose="020B050403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Helvetica" panose="020B0604030202020204" pitchFamily="34" charset="0"/>
                <a:ea typeface="Helvetica" pitchFamily="34" charset="-122"/>
                <a:cs typeface="Helvetica" panose="020B0604030202020204" pitchFamily="34" charset="0"/>
              </a:rPr>
              <a:t>Running AI inside your own walls — what changes, what it costs, when it's worth it.</a:t>
            </a:r>
            <a:endParaRPr lang="en-US" sz="1400" dirty="0">
              <a:latin typeface="Helvetica" panose="020B0604030202020204" pitchFamily="34" charset="0"/>
              <a:cs typeface="Helvetica" panose="020B060403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42552" y="737151"/>
            <a:ext cx="51716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The On-Premise Renaissance</a:t>
            </a:r>
            <a:endParaRPr lang="en-US" sz="22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442552" y="1248430"/>
            <a:ext cx="51716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anose="020B0404030202020204" pitchFamily="34" charset="0"/>
                <a:ea typeface="Helvetica" pitchFamily="34" charset="-122"/>
                <a:cs typeface="Helvetica" panose="020B0404030202020204" pitchFamily="34" charset="0"/>
              </a:rPr>
              <a:t>Why teams are bringing inference back inside the firewall.</a:t>
            </a:r>
            <a:endParaRPr lang="en-US" sz="1200" dirty="0">
              <a:latin typeface="Helvetica" panose="020B0404030202020204" pitchFamily="34" charset="0"/>
              <a:cs typeface="Helvetica" panose="020B040403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078" y="2240280"/>
            <a:ext cx="54864" cy="2194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1259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Sensitive data stays 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Patient records, source code, legal contracts — never leave your network.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87268" y="2244715"/>
            <a:ext cx="54864" cy="2194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3703320" y="1965960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340" y="21259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SOVEREIGNTY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7033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alignment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7033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GDPR, HIPAA, regional residency — solved by topology, not by paperwork.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31636" y="2240280"/>
            <a:ext cx="54864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7"/>
          <p:cNvSpPr/>
          <p:nvPr/>
        </p:nvSpPr>
        <p:spPr>
          <a:xfrm>
            <a:off x="6675120" y="196596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140" y="212598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51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 CONTROL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6751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Predictable economics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6751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Fixed CapEx beats per-token surprise bills at sustained throughput.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558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paradigm shift:  </a:t>
            </a: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API dependency on OpenAI / Anthropic to self-hosted infrastructure you operate.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87655" y="666696"/>
            <a:ext cx="54191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Consumer Power vs. Enterprise Cluster</a:t>
            </a:r>
            <a:endParaRPr lang="en-US" sz="22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2843" y="1194183"/>
            <a:ext cx="50991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anose="020B0404030202020204" pitchFamily="34" charset="0"/>
                <a:ea typeface="Helvetica" pitchFamily="34" charset="-122"/>
                <a:cs typeface="Helvetica" panose="020B0404030202020204" pitchFamily="34" charset="0"/>
              </a:rPr>
              <a:t>Different tiers, different operating points — match the GPU to the workload.</a:t>
            </a:r>
            <a:endParaRPr lang="en-US" sz="1200" dirty="0">
              <a:latin typeface="Helvetica" panose="020B0404030202020204" pitchFamily="34" charset="0"/>
              <a:cs typeface="Helvetica" panose="020B040403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" cy="2788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1259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CONSUMER POWER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087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RTX 5090 / 4090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high-end graphics card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workstation, one team using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Affordable, sits under a desk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Runs small-to-mid-size models well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54864" cy="2788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9659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21259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2011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CLUSTER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71500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H100  ·  H200  ·  B200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937760" y="27889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Specialized data-center GPUs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to serve many users at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Multiple cards working as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Handles the largest models in production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470711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a sentence:  </a:t>
            </a: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consumer hardware is great for prototyping; data-center hardware is what you put in front of real users.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88477" y="813746"/>
            <a:ext cx="36183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Ollama: AI on Your Laptop</a:t>
            </a:r>
            <a:endParaRPr lang="en-US" sz="22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91728" y="1772332"/>
            <a:ext cx="54864" cy="3108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09492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07778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47656" y="209851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"App Store for AI"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0416" y="2875753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ollama run llama3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0416" y="3378673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command downloads a model and runs it. No setup, no configuration, no cloud account.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0416" y="3973033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Perfect for: trying out a new model, building a quick demo, or letting a single person experiment without touching shared infrastructure.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23012" y="1986346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742" y="2155663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9576" y="177847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 to install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79576" y="2098513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Works on Mac, Windows, and Linux out of the box.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2923221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992" y="3048951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9576" y="283003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 to experiment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79576" y="3150073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 different models without involving the IT team.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843890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660" y="397763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9576" y="388159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Ready-to-go models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79576" y="4201633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Popular open models available with one command.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07134" y="807365"/>
            <a:ext cx="36368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The Production Gap</a:t>
            </a:r>
            <a:endParaRPr lang="en-US" sz="28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35774" y="1427756"/>
            <a:ext cx="4532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anose="020B0404030202020204" pitchFamily="34" charset="0"/>
                <a:ea typeface="Helvetica" pitchFamily="34" charset="-122"/>
                <a:cs typeface="Helvetica" panose="020B0404030202020204" pitchFamily="34" charset="0"/>
              </a:rPr>
              <a:t>Ollama was built for one developer. Production looks different.</a:t>
            </a:r>
            <a:endParaRPr lang="en-US" sz="1200" dirty="0">
              <a:latin typeface="Helvetica" panose="020B0404030202020204" pitchFamily="34" charset="0"/>
              <a:cs typeface="Helvetica" panose="020B040403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2136974"/>
            <a:ext cx="54864" cy="2331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411294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57131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14281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AT A TIME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37141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Requests stand in 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378289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Like a coffee shop with one barista — fine for two customers, painful for fifty.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136974"/>
            <a:ext cx="54864" cy="2331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2411294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257131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314281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TRAFFIC RULES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74720" y="337141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fairness controls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74720" y="378289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way to give priority or set limits per team. One heavy user slows down everyone.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2136974"/>
            <a:ext cx="54864" cy="2331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7"/>
          <p:cNvSpPr/>
          <p:nvPr/>
        </p:nvSpPr>
        <p:spPr>
          <a:xfrm>
            <a:off x="6446520" y="2411294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257131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314281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LOCKED RESOURCES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46520" y="337141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sits idle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46520" y="378289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 is reserved up-front whether or not it's being used — money you can't recover.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real users show up, </a:t>
            </a: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need a real serving system.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62727" y="670276"/>
            <a:ext cx="43481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vLLM: Built for Real Traffic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73476" y="1164155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industry-standard tool for running AI when many people need it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8836" y="2148840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513156" y="24231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76" y="25831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3156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PLUG-AND-PLAY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3156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Speaks the same API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3156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Apps built for OpenAI work unchanged — just point them at your server instead.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10636" y="2148840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84956" y="24231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976" y="25831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4956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QUEUEING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84956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users, one server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84956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Like a bus that picks up new passengers at every stop — far more efficient than one car per rider.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82436" y="2148840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7"/>
          <p:cNvSpPr/>
          <p:nvPr/>
        </p:nvSpPr>
        <p:spPr>
          <a:xfrm>
            <a:off x="6456756" y="24231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776" y="258318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6756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GROWS WITH YOU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56756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 across machines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56756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 a single large model across multiple GPUs working as a team.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Born at UC Berkeley, </a:t>
            </a: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 what most companies use to run AI on their own servers.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03399" y="64008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Breakthrough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93827" y="1261053"/>
            <a:ext cx="5751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Think of GPU memory like a parking lot. Smarter parking = more cars served.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2377440"/>
          </a:xfrm>
          <a:prstGeom prst="rect">
            <a:avLst/>
          </a:prstGeom>
          <a:solidFill>
            <a:srgbClr val="1B254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 ·  RESERVED SPACES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548640" cy="457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468880"/>
            <a:ext cx="274320" cy="457200"/>
          </a:xfrm>
          <a:prstGeom prst="rect">
            <a:avLst/>
          </a:prstGeom>
          <a:solidFill>
            <a:srgbClr val="151D3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2468880"/>
            <a:ext cx="411480" cy="457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468880"/>
            <a:ext cx="457200" cy="457200"/>
          </a:xfrm>
          <a:prstGeom prst="rect">
            <a:avLst/>
          </a:prstGeom>
          <a:solidFill>
            <a:srgbClr val="151D3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468880"/>
            <a:ext cx="640080" cy="457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468880"/>
            <a:ext cx="365760" cy="457200"/>
          </a:xfrm>
          <a:prstGeom prst="rect">
            <a:avLst/>
          </a:prstGeom>
          <a:solidFill>
            <a:srgbClr val="151D3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468880"/>
            <a:ext cx="502920" cy="457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request blocks off a big area. Awkward gaps in between can't fit anyone — wasted space.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≈ 20–40% utilization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34840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3931920" cy="2377440"/>
          </a:xfrm>
          <a:prstGeom prst="rect">
            <a:avLst/>
          </a:prstGeom>
          <a:solidFill>
            <a:srgbClr val="1B254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  ·  STANDARD SLOTS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04104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24728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65976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27848" y="2468880"/>
            <a:ext cx="384048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broken into uniform slots, filled as needed. Many requests share the same lot — no wasted space.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90% utilization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result: </a:t>
            </a: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same GPU serves 3–5× more users, with no new hardware.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23982" y="457541"/>
            <a:ext cx="47678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KV Cache: The Real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145810" y="122539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biggest consumer of GPU memory in production — and what PagedAttention tames.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~128 KB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token of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Llama-3 8B, every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8×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at 32K vs 4K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grows linearly with length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&gt;50%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722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VRAM at 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rival model weights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Without a cache, each new token re-reads the whole history — O(n²) work. The cache swaps compute for memory.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Size ≈ 2 × layers × heads × head-dim × tokens × users — longer chats and more users both multiply it.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Memory, not compute, caps concurrent users on a GPU — exactly why PagedAttention and prefix caching exist.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 of thumb: every active conversation pays VRAM rent — every token, every layer, until it closes.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63129" y="548640"/>
            <a:ext cx="44437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Reusing Work Across Users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337560" y="1175004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100 people ask questions about the same document, only process the document once.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SHARED PART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19456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Background / instructions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Processed once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2377440"/>
            <a:ext cx="27432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148840"/>
            <a:ext cx="173736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question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 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2377440"/>
            <a:ext cx="274320" cy="1005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926080"/>
            <a:ext cx="173736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question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383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 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80360" y="2377440"/>
            <a:ext cx="274320" cy="1783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703320"/>
            <a:ext cx="173736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question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160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 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169164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10" y="1817370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8076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 setup instructions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807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Personas, rules, and context that go in every request.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40680" y="260604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410" y="2731770"/>
            <a:ext cx="251460" cy="2514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0807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Q&amp;A on shared documents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0807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people asking different questions about the same files.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440680" y="352044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6410" y="3646170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08076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Ongoing conversations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08076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new message reuses everything said so far.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this feels like:  </a:t>
            </a: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first word appears 5–20× faster on requests that share a setup with earlier ones.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23420" y="556999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Let One Big Request Block Everyone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11880" y="1082779"/>
            <a:ext cx="5453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 prompts can hog the server. The fix: handle them in small bites.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DEFAULT BEHAVIOR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long prompt holds the 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 prompt being processed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743200"/>
            <a:ext cx="4572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Other users wait their turn 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 for the big request itself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But everyone else's replies pause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54864" cy="2743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SCHEDULING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 turns in small bites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2743200"/>
            <a:ext cx="4572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2743200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2743200"/>
            <a:ext cx="4572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2743200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743200"/>
            <a:ext cx="4572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2743200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2743200"/>
            <a:ext cx="4572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piece of the big request, then a piece of everyone else's, then back…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Everyone keeps getting replies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Big request is slightly slower, but no one is stuck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Adjustable per workload.  </a:t>
            </a: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chat → smaller bites. Background processing → bigger bites.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51769" y="576413"/>
            <a:ext cx="5194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Making AI Talk to Other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926080" y="11612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Reliable, structured answers — so software can act on them, not just display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57200" cy="4572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19431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Plain chat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Answers in sentences. Great for humans, hard for software.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542032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26563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answers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2816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returns data in a predictable format every time.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25526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336956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 use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3529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decides which system to call and what to ask it.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3968496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" y="4082796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968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97280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loops: think → act → check result → repeat.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892040" y="1828800"/>
            <a:ext cx="3840480" cy="27432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120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Example: AI tells the system what to do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120640" y="24688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"action": </a:t>
            </a: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"search_documents",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"with":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"topic": </a:t>
            </a:r>
            <a:r>
              <a:rPr lang="en-US" sz="12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"vllm benchmarks",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"limit": 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}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matters:  </a:t>
            </a: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is what turns a chatbot into a building block of real business workflows.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13195" y="503432"/>
            <a:ext cx="44273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Bigger, Stay Visible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926080" y="1073823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to handle models too big for one GPU — and how to know it's all working.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617" y="189738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795937" y="2171700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57" y="2331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3177" y="22174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SPLIT ACROSS GPUs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73177" y="24460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Teamwork on big models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5937" y="3040380"/>
            <a:ext cx="77724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937" y="3040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GPU 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664617" y="3040380"/>
            <a:ext cx="77724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64617" y="3040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GPU 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33297" y="3040380"/>
            <a:ext cx="77724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33297" y="3040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GPU 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01977" y="3040380"/>
            <a:ext cx="77724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977" y="3040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GPU 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937" y="39547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Like a team of cooks each handling part of one dish. The big model is sliced up; the GPUs work together on each request.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27857" y="1897380"/>
            <a:ext cx="54864" cy="2743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19"/>
          <p:cNvSpPr/>
          <p:nvPr/>
        </p:nvSpPr>
        <p:spPr>
          <a:xfrm>
            <a:off x="5002177" y="217170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2197" y="233172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79417" y="22174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779417" y="24460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Built-in metrics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002177" y="29946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long users wait for replies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fast the first word appears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full the GPU memory 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many requests are queued vs. running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often cached prefixes are reused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21617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Bottom line:  </a:t>
            </a: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you can't see what's happening, you can't fix it when something breaks.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23982" y="457541"/>
            <a:ext cx="47678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Qwen 3.5-9B on RTX 5090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145810" y="122539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happens when you put a current-gen open model on a current-gen consumer GPU.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words / second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user, short chat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8×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aggregate 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8 users on one card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722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cache reuse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shared system prompt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Hybrid Dense+DeltaNet: only 8 of 32 layers carry KV cache, so memory pressure stays manageable at long contexts.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Prefix caching delivers measurable wins — first-word latency drops ~3× with stable system prompts.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100 users at ~30% peak concurrency (agentic, 5 calls/turn): 3 × RTX 5090 covers the load.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Synergy Resource Calculator · perf-test 2026-05-04 · ai-server3 dev cluster.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74098" y="53949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Many People Can One Server Handle?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85388" y="12573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Concurrent users a single RTX 5090 can serve at different conversation lengths.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562" y="1691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MEASURED</a:t>
            </a: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·GPU: RTX 5090(32 GB) · Model: Qwen 3.5-9B BF16 (18 </a:t>
            </a:r>
            <a:r>
              <a:rPr lang="en-US" sz="1100" dirty="0" err="1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GB·hybrid</a:t>
            </a: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100" dirty="0" err="1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Dense+DeltaNet</a:t>
            </a: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)·KV pool: ~9 GB @ 90% util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208483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CONVERSATION LENGTH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CONSERVATIVE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RECOMMENDED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AGGRESSIVE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 1,500 words  (2K)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 3,000 words  (4K)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 6,000 words  (8K)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19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 12,000 words (16K)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 24,000 words (32K)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Conservative</a:t>
            </a: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80% memory  ·  </a:t>
            </a:r>
            <a:r>
              <a:rPr lang="en-US" sz="1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</a:t>
            </a: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90% (vLLM default)  ·  </a:t>
            </a: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Aggressive</a:t>
            </a: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95% (max throughput, risk under spikes)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Bottleneck flips:  </a:t>
            </a: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compute-bound below 8K (caps at ~32 slots at 25 wps/user target) · KV-bound past 16K.  Numbers from Synergy Resource Calculator with measured perf data.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54448" y="560514"/>
            <a:ext cx="3952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Fast Does It Reply?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90605" y="1188720"/>
            <a:ext cx="4948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to the first word, and how many words per second once it's flowing.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TO FIRST WORD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Cold prompt vs. cached 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25603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cold   /   cached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Short  (1K)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2834640"/>
            <a:ext cx="3657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816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~120 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91640" y="3054096"/>
            <a:ext cx="118872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856232" y="3035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~40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4472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 (4K)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3401568"/>
            <a:ext cx="100584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383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~480 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91640" y="3621024"/>
            <a:ext cx="338328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2075688" y="36027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~160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01421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  (16K)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91640" y="3968496"/>
            <a:ext cx="178308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9502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~1.9 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91640" y="4187952"/>
            <a:ext cx="594360" cy="182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2331720" y="4169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~600 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691640"/>
            <a:ext cx="54864" cy="2743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WORDS PER SECOND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user vs. 8 users at once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2560320"/>
            <a:ext cx="1691640" cy="1417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94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4937760" y="33101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words / sec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566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2560320"/>
            <a:ext cx="1691640" cy="14173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6974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528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6720840" y="33101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words / sec total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3566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across 8 users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user still sees ~66 wps — comfortable for live chat.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speed reference:  </a:t>
            </a: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person reads ~5 words/sec aloud. The server replies ~18× faster than anyone can read it.  </a:t>
            </a:r>
            <a:r>
              <a:rPr lang="en-US" sz="11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Measured at 4K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14187" y="849232"/>
            <a:ext cx="39926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Claude Code, Hosted Locally</a:t>
            </a:r>
            <a:endParaRPr lang="en-US" sz="22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94760" y="1371259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anose="020B0404030202020204" pitchFamily="34" charset="0"/>
                <a:ea typeface="Helvetica" pitchFamily="34" charset="-122"/>
                <a:cs typeface="Helvetica" panose="020B0404030202020204" pitchFamily="34" charset="0"/>
              </a:rPr>
              <a:t>Agentic coding — running against your own vLLM, on hardware you control.</a:t>
            </a:r>
            <a:endParaRPr lang="en-US" sz="1200" dirty="0">
              <a:latin typeface="Helvetica" panose="020B0404030202020204" pitchFamily="34" charset="0"/>
              <a:cs typeface="Helvetica" panose="020B040403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2152252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426572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5865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1580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DROP-IN INTEGRATION</a:t>
            </a:r>
            <a:endParaRPr lang="en-US" sz="10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33866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environment variable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37981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anose="020B0404030202020204" pitchFamily="34" charset="0"/>
                <a:ea typeface="Helvetica" pitchFamily="34" charset="-122"/>
                <a:cs typeface="Helvetica" panose="020B0404030202020204" pitchFamily="34" charset="0"/>
              </a:rPr>
              <a:t>Set ANTHROPIC_BASE_URL to your vLLM server. Claude Code talks to your model, not the cloud.</a:t>
            </a:r>
            <a:endParaRPr lang="en-US" sz="1000" dirty="0">
              <a:latin typeface="Helvetica" panose="020B0404030202020204" pitchFamily="34" charset="0"/>
              <a:cs typeface="Helvetica" panose="020B040403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0" y="2152252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2426572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58659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31580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anose="020B0804030202020204" pitchFamily="34" charset="0"/>
                <a:ea typeface="Helvetica" pitchFamily="34" charset="-122"/>
                <a:cs typeface="Helvetica" panose="020B0804030202020204" pitchFamily="34" charset="0"/>
              </a:rPr>
              <a:t>PRIVATE BY DEFAULT</a:t>
            </a:r>
            <a:endParaRPr lang="en-US" sz="1000" dirty="0">
              <a:latin typeface="Helvetica" panose="020B0804030202020204" pitchFamily="34" charset="0"/>
              <a:cs typeface="Helvetica" panose="020B080403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474720" y="33866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never leaves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74720" y="37981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repo’s code, internal docs, secrets — all processed locally. No outbound API calls.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72200" y="2152252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7"/>
          <p:cNvSpPr/>
          <p:nvPr/>
        </p:nvSpPr>
        <p:spPr>
          <a:xfrm>
            <a:off x="6446520" y="2426572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258659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31580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MODELS THAT WORK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46520" y="33866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tool calling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46520" y="37981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Constrained decoding makes open models reliable for agents. Prefix caching makes them fast.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means:  </a:t>
            </a: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agentic coding assistant that runs entirely on hardware you control.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53445" y="680955"/>
            <a:ext cx="515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Claude Code at Your vLLM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31639" y="1324038"/>
            <a:ext cx="52752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values redirect every Claude Code call from the cloud to your 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1239" y="1860531"/>
            <a:ext cx="457200" cy="4572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39" y="1974831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5599" y="186053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5599" y="2134851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env vars under "env" in ~/.claude/settings.json.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1239" y="2573763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39" y="2688063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5599" y="257376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URL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25599" y="284808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ANTHROPIC_BASE_URL points at your vLLM endpoint. Plain HTTP is fine locally.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1239" y="3286995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39" y="3401295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5599" y="328699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 TOKEN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25599" y="356131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ANTHROPIC_AUTH_TOKEN can be any string. vLLM does not authenticate.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31239" y="4000227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39" y="4114527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5599" y="40002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25599" y="427454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Windows: %USERPROFILE%\.claude\settings.json — same shape on Linux/macOS.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966077" y="1860531"/>
            <a:ext cx="3794761" cy="27432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148959" y="204341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env block — connection part only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041823" y="2500611"/>
            <a:ext cx="36732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"env":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"</a:t>
            </a:r>
            <a:r>
              <a:rPr lang="en-US" sz="1000" dirty="0" err="1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ANTHROPIC_BASE_URL":</a:t>
            </a:r>
            <a:r>
              <a:rPr lang="en-US" sz="1000" dirty="0" err="1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</a:t>
            </a:r>
            <a:r>
              <a:rPr lang="en-US" sz="1000" b="1" dirty="0" err="1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http</a:t>
            </a:r>
            <a:r>
              <a:rPr lang="en-US" sz="1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://localhost:8000</a:t>
            </a:r>
            <a:r>
              <a:rPr lang="en-US" sz="10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"ANTHROPIC_AUTH_TOKEN":  "dummy"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80029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Result:  </a:t>
            </a: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claude command now talks to your local model. Nothing else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36015" y="582930"/>
            <a:ext cx="51260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 Models and Enable Plugins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805298" y="112655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Tell Claude Code which model to call for each tier — and which plugins to load.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897380"/>
            <a:ext cx="457200" cy="45720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0116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73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OPUS tier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21717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Code uses this for hard tasks. Map it to your strongest local model.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2610612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7249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6106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SONNET tier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8849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default for routine coding work. Same local model, lighter call pattern.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332384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43814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3238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HAIKU tier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35981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 / low-stakes operations. Same model — the tier is just a routing hint.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983480" y="1879092"/>
            <a:ext cx="3840480" cy="27432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212080" y="20802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mapping — all three tiers, same model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118593" y="2537460"/>
            <a:ext cx="365964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"ANTHROPIC_DEFAULT_OPUS_MODEL":</a:t>
            </a:r>
            <a:r>
              <a:rPr lang="en-US" sz="9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"Qwen/Qwen3.5-9B",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"ANTHROPIC_DEFAULT_SONNET_MODEL":"Qwen/Qwen3.5-9B",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"ANTHROPIC_DEFAULT_HAIKU_MODEL":</a:t>
            </a: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"Qwen/Qwen3.5-9B"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9436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model, three tiers:  </a:t>
            </a: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Code routes by tier; you point all three at the model your hardware can run.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04002" y="594360"/>
            <a:ext cx="5207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the Right Tool for the Stage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OLLAMA WHEN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Trying out or evaluating a new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person, one machine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deadlines, no shared traffic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Demos, internal tools,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vLLM WHEN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users, real traffic, real expectations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Speed and reliability are commitments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Multiple GPUs or growing demand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plugged into business workflows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Mixture of Experts </a:t>
            </a: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(top-tier quality without top-tier hardware)  ·  </a:t>
            </a: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Small but smart models </a:t>
            </a: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(running great on a single GPU)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DCD9C-25D1-4CA0-B93F-7DB25CB7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6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Helvetica"/>
        <a:font script="Hebr" typeface="Helvetic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  <a:font script="Armn" typeface="Helvetic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Helvetica"/>
        <a:font script="Hebr" typeface="Helvetic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  <a:font script="Armn" typeface="Helvetic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Helvetica"/>
        <a:font script="Hebr" typeface="Helvetic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  <a:font script="Armn" typeface="Helvetic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Helvetica"/>
        <a:font script="Hebr" typeface="Helvetic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  <a:font script="Armn" typeface="Helvetic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2142</Words>
  <Application>Microsoft Office PowerPoint</Application>
  <PresentationFormat>On-screen Show (16:9)</PresentationFormat>
  <Paragraphs>303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On-Premise AI</dc:title>
  <dc:subject>PptxGenJS Presentation</dc:subject>
  <dc:creator>On-Prem AI Talk</dc:creator>
  <cp:lastModifiedBy>Arshak Papoyan</cp:lastModifiedBy>
  <cp:revision>7</cp:revision>
  <dcterms:created xsi:type="dcterms:W3CDTF">2026-05-12T15:13:24Z</dcterms:created>
  <dcterms:modified xsi:type="dcterms:W3CDTF">2026-06-07T07:50:39Z</dcterms:modified>
</cp:coreProperties>
</file>